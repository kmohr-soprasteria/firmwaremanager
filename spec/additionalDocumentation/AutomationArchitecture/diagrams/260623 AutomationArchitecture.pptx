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9" r:id="rId3"/>
    <p:sldId id="256" r:id="rId4"/>
    <p:sldId id="274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D6A300"/>
    <a:srgbClr val="0C3548"/>
    <a:srgbClr val="FFE48F"/>
    <a:srgbClr val="FFE285"/>
    <a:srgbClr val="FC8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7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8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 sldOrd modMainMaster">
      <pc:chgData name="Thorsten Heinze" userId="8373ecd2-b5b9-4b48-849d-3bee853f6cc0" providerId="ADAL" clId="{33E4F197-D015-42C7-A91E-E5AC6843AD16}" dt="2026-07-02T08:55:53.373" v="3445" actId="47"/>
      <pc:docMkLst>
        <pc:docMk/>
      </pc:docMkLst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2156561708" sldId="257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2362679788" sldId="261"/>
        </pc:sldMkLst>
      </pc:sldChg>
      <pc:sldChg chg="addSp delSp modSp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350358792" sldId="262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3554641146" sldId="263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541643106" sldId="265"/>
        </pc:sldMkLst>
      </pc:sldChg>
      <pc:sldChg chg="del">
        <pc:chgData name="Thorsten Heinze" userId="8373ecd2-b5b9-4b48-849d-3bee853f6cc0" providerId="ADAL" clId="{33E4F197-D015-42C7-A91E-E5AC6843AD16}" dt="2026-07-02T08:55:53.373" v="3445" actId="47"/>
        <pc:sldMkLst>
          <pc:docMk/>
          <pc:sldMk cId="1477588287" sldId="266"/>
        </pc:sldMkLst>
      </pc:sldChg>
      <pc:sldChg chg="addSp delSp modSp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1303016700" sldId="267"/>
        </pc:sldMkLst>
      </pc:sldChg>
      <pc:sldChg chg="addSp delSp setBg delDesignElem">
        <pc:chgData name="Thorsten Heinze" userId="8373ecd2-b5b9-4b48-849d-3bee853f6cc0" providerId="ADAL" clId="{33E4F197-D015-42C7-A91E-E5AC6843AD16}" dt="2026-06-23T17:05:29.721" v="902"/>
        <pc:sldMkLst>
          <pc:docMk/>
          <pc:sldMk cId="1514908093" sldId="269"/>
        </pc:sldMkLst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3" creationId="{EFA9B6C6-A247-48A8-9A1C-1E36FA9456B5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5" creationId="{C5CB530E-515E-412C-9DF1-5F8FFBD6F383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7" creationId="{712D4376-A578-4FF1-94FC-245E7A6A489F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1514908093" sldId="269"/>
            <ac:spMk id="19" creationId="{AEA7509D-F04F-40CB-A0B3-EEF16499CC9F}"/>
          </ac:spMkLst>
        </pc:spChg>
        <pc:cxnChg chg="add del">
          <ac:chgData name="Thorsten Heinze" userId="8373ecd2-b5b9-4b48-849d-3bee853f6cc0" providerId="ADAL" clId="{33E4F197-D015-42C7-A91E-E5AC6843AD16}" dt="2026-06-23T17:05:29.721" v="902"/>
          <ac:cxnSpMkLst>
            <pc:docMk/>
            <pc:sldMk cId="1514908093" sldId="269"/>
            <ac:cxnSpMk id="21" creationId="{56020367-4FD5-4596-8E10-C5F095CD8DBF}"/>
          </ac:cxnSpMkLst>
        </pc:cxnChg>
      </pc:sldChg>
      <pc:sldChg chg="addSp delSp modSp del mod setBg delDesignElem">
        <pc:chgData name="Thorsten Heinze" userId="8373ecd2-b5b9-4b48-849d-3bee853f6cc0" providerId="ADAL" clId="{33E4F197-D015-42C7-A91E-E5AC6843AD16}" dt="2026-07-02T08:55:53.373" v="3445" actId="47"/>
        <pc:sldMkLst>
          <pc:docMk/>
          <pc:sldMk cId="3313364984" sldId="271"/>
        </pc:sldMkLst>
      </pc:sldChg>
      <pc:sldChg chg="addSp delSp modSp add del mod ord delDesignElem">
        <pc:chgData name="Thorsten Heinze" userId="8373ecd2-b5b9-4b48-849d-3bee853f6cc0" providerId="ADAL" clId="{33E4F197-D015-42C7-A91E-E5AC6843AD16}" dt="2026-07-02T08:55:53.373" v="3445" actId="47"/>
        <pc:sldMkLst>
          <pc:docMk/>
          <pc:sldMk cId="3940105847" sldId="274"/>
        </pc:sldMkLst>
      </pc:sldChg>
      <pc:sldChg chg="addSp delSp modSp add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517113599" sldId="275"/>
        </pc:sldMkLst>
      </pc:sldChg>
      <pc:sldChg chg="addSp delSp modSp new del mod">
        <pc:chgData name="Thorsten Heinze" userId="8373ecd2-b5b9-4b48-849d-3bee853f6cc0" providerId="ADAL" clId="{33E4F197-D015-42C7-A91E-E5AC6843AD16}" dt="2026-07-02T08:55:53.373" v="3445" actId="47"/>
        <pc:sldMkLst>
          <pc:docMk/>
          <pc:sldMk cId="1820569021" sldId="277"/>
        </pc:sldMkLst>
      </pc:sldChg>
      <pc:sldMasterChg chg="setBg modSldLayout">
        <pc:chgData name="Thorsten Heinze" userId="8373ecd2-b5b9-4b48-849d-3bee853f6cc0" providerId="ADAL" clId="{33E4F197-D015-42C7-A91E-E5AC6843AD16}" dt="2026-06-23T16:27:42.976" v="16"/>
        <pc:sldMasterMkLst>
          <pc:docMk/>
          <pc:sldMasterMk cId="1376196047" sldId="2147483648"/>
        </pc:sldMasterMkLst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298373701" sldId="2147483649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340864458" sldId="2147483650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917757961" sldId="2147483651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483992217" sldId="2147483652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205519675" sldId="2147483653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892674344" sldId="2147483654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67306326" sldId="2147483655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144702554" sldId="2147483656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96900119" sldId="2147483657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970499890" sldId="2147483658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18581632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1FB-3C8D-7FDA-EA03-5DDE8861A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70D5DC-449A-26FA-C48A-58EB50E1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16AC5-95CB-9F6C-B0AB-5E5160B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1F4C0-66C0-C8D3-799F-1403008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9E886E-E7BE-051D-F385-3B82593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3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D7E11-1DB9-25B0-27A6-A19A7A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D83747-5E05-C06A-9B75-682BA98D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E8B9-8589-84EA-D66F-0A19CAD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B0CD-4C96-9332-31EB-09E94CC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BF47E-DFE6-4C5C-F094-EAFD177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FE03A-B15C-72F5-3778-8BC98A3C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DA95-157D-9A1F-523C-15AF059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B12C8-EAD3-FF26-5137-8C058C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F7633C-56AF-7DAE-666B-DD8A412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C6F91-065F-4C4B-053E-5625B68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75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1B66-4D9E-D3D3-584F-97609CB3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0107D-BBE4-E384-7274-EA71B99C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BC2EC-4D93-C03B-9170-477FD17C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8E210C-86C6-7600-CE6B-992E512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1B8D0-B8C6-07D4-2134-23B4004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7C03B4-BC6F-97E9-16A4-978E2894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9D49E-9550-BECF-4EA1-DFEB0733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28A71-2F8F-05C7-E7D9-C9EFDCA5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246C7A-35E8-FE3E-8A61-4C57F082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58D0F-39C3-458D-7E72-851CBE0E2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A1CE7-B640-F6BA-272C-AA5C671D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F4183-FCCB-5EFD-7054-56DA7C45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92EC90-C786-9DF7-456D-89F694A2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498CF0-0A03-A01D-CA39-7F192438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5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4D286-2612-2676-958A-636DEAC5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16EE8-9C3D-10D1-2593-FDE8D097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C41F5A-AC32-3306-ABB9-F7A1D339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8F6230-BD04-5F20-F267-7DB921A0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6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F366B7-81A3-7E2E-69BE-29B81717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AB019-0F5C-8F14-85A5-247B261C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E83D03-3C0A-3D96-81B2-8EEF9627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30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A9D6-FB57-F007-E28D-B47A9360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83C11-16A5-02CD-38D4-331AA867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D0615-0D51-F75D-1662-97F01AAD7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10F82-BCC4-54BE-7F67-EEFD7778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1870B-0D02-23BE-C444-4FE7EB5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FCDE7-BE72-08A8-D844-2F04ECAF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70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12888-F729-3F22-A14A-2AA4B634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3D230B-C330-6666-D5F7-5D777AA54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1ECB7-8C01-EF59-4539-03A1F873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9629-100B-751E-40C2-38433C6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728D1-E4DE-9275-CFD2-92B071A6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36317A-7AC5-5EA3-210E-AA0AD90D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0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4DCD3-0E17-9DF1-D7FD-541D100B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AC2C2-E26C-B51B-09CE-C0076CA8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9A97E-58E5-A0B5-FE5F-0AC1731D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8D11BC-45EB-FC23-A593-0E3CD15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91077-76E9-6172-1B2C-06D799EA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2E9EB4-6D5D-FE26-98C4-BB6B071DB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8EE3-2241-FA15-83D7-B452755F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585CE-01B2-67F1-B8E2-8AF80C0F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3A83A1-61E1-BB8D-D836-FCA5AD7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7C048A-B047-56F1-ADF6-9419667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6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9722D8-A9AC-7837-7B1A-458718390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D4C87F-CA6F-4A47-39C8-73F1C0590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55D66E-4CCF-E604-571A-6EB25C80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994A7E-E626-4F3E-8DDD-26FE2CF3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3D374B-7648-599B-E206-77D0755C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4812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2BC44E-B492-CC45-FFAC-8B62376A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E37F47-070C-6761-92C6-386B593FC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6D0717-E24C-C0A9-FCD9-A3131590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43BA87-304F-03E2-9CBF-68B33FDB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BA15CF-E4AB-AA22-FB5D-AF7D5471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1317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4A8B80-A7F1-BA96-A99A-D30149189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605DAA-A8EC-F3C3-E395-D7774977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8AB83F-1EFE-BAB0-8934-513A3B6B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1DB2C7-98F1-7BF4-20A5-F123B5FF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665AC6-A3EC-75A7-AAB8-0D0A0BB4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269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02214-1D47-9780-2D81-FC88A128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4111E6-945E-66A4-532F-A81989DA9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D869B4-19AF-8D28-CF27-2EA02A3DF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B28340-5F1D-B43B-AB64-69A79A09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5B6EC7-F273-64BB-1432-0916E65C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8BC027-3741-5CE1-C2B1-C2C33042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0371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2DCF9-1BC3-80F1-A0D8-27FA06CB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19F9BA-FCEF-E853-8F18-8312918E5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82E1AD-8EDE-A4E0-05BA-47858692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E3A9E1-2654-5CB2-D744-2C5CEC484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127AA8-B3E6-7735-FF25-C29EAD2A9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D4DF67-EA48-303D-74AE-78853C07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109B45C-0292-7934-45C4-34ADB119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C4F0CF-2FE3-6C13-3047-BA3C7FF9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0441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EF923-29E6-3E8C-42D0-05769ED9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2A558-74BE-8A2E-A6DC-F6C8CB7E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F8E9C-C443-F286-5AAC-948D9FC5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FF51B3-C084-310E-2AAF-82AF3751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40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824B113-6858-33E6-926E-F44B70F4A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6AFC27-AE3E-7AA0-F121-6F33C1AC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80A4A9-8609-B9FB-EEC0-B304597B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527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D7B39-C9CF-3324-174D-A2250145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0B6393-27BD-24F0-622D-2F5EEED1C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0AD643-29CB-40B9-24E3-0476323B2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8F8FA6-D62E-779A-2C6F-934B4FD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AEA5A7-A574-C88E-019D-4B72860A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86354D-150D-0175-E1F8-DA0AB29B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6353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FB518-43CB-2509-EF47-AA9153F1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5A8644-F427-D000-B74C-EF3EE5BD3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AB3B08-D662-93A0-720B-8CC4A70BA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31FAEB-4A3C-8679-B991-169DA08B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81713D-1086-9004-4EAF-131945CB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A75CB1-EA91-6A3F-0719-3199CE9B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637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659D3-0AC2-DC8C-B3A1-D1A8967A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A681E6-EB9D-556F-C30C-D0783FC99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2CC555-E9B6-DFE6-6D16-F85C302A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99844-D115-822D-6CA3-4AF1C882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C3E03D-5180-57BA-EEB9-6AE2EE27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296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FA5CE3C-0EB0-EF0B-DFB7-5E8869002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64C3C7-3E0F-E236-8A6C-7705C9B11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F597B7-D4D3-3A82-0844-DE77E94E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5EBC65-E1D7-7176-3139-B52458D6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1507F2-C32F-D2DF-9E1D-A4B3728C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9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9DEA1F-58C4-BED8-2268-412051CC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7195E-DEF8-9A92-62F0-E8A17364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4B8C3-0520-5E4B-1F56-B777954F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A8C75-A467-416A-B374-E97E5CF82461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DC54B-1C63-BA75-DD54-7A7B3F81B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9A403-C4E7-1BF4-8628-6C1FEF08C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F82F5EF-5F48-BE23-50CF-79224913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6822DA-213B-37D4-24B1-1ABEEC24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B02FB5-707F-0DA3-4B1B-032F862B3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EE0AF-3108-4CA3-86C7-0426E4F2C1B8}" type="datetimeFigureOut">
              <a:rPr lang="de-DE" smtClean="0"/>
              <a:t>23.07.2026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7F39F3-EE41-164C-B5EA-09E80A2F0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C92C1-E53A-FD7D-A6C3-0FF0D778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80021-631E-4299-85ED-5092D68E107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56AE3E8-E9BF-6465-45F6-93E72F72878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33242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Clasificado PÚBLICO por TELEFÓNICA. *** Classified PUBLIC by TELEFÓNICA.
*** Classificado como PÚBLICO pela TELEFÓNICA. *** Von TELEFÓNICA als ÖFFENTLICH eingestuft.</a:t>
            </a:r>
          </a:p>
        </p:txBody>
      </p:sp>
    </p:spTree>
    <p:extLst>
      <p:ext uri="{BB962C8B-B14F-4D97-AF65-F5344CB8AC3E}">
        <p14:creationId xmlns:p14="http://schemas.microsoft.com/office/powerpoint/2010/main" val="421086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4F30D6-2519-3B92-7CBF-44CC8D39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516340" cy="2838938"/>
          </a:xfrm>
        </p:spPr>
        <p:txBody>
          <a:bodyPr>
            <a:normAutofit/>
          </a:bodyPr>
          <a:lstStyle/>
          <a:p>
            <a:pPr algn="l"/>
            <a:r>
              <a:rPr lang="de-DE" sz="4300" dirty="0" err="1">
                <a:solidFill>
                  <a:srgbClr val="FFFFFF"/>
                </a:solidFill>
              </a:rPr>
              <a:t>AutomationArchitecture</a:t>
            </a:r>
            <a:endParaRPr lang="de-DE" sz="43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26FA12F-A6C1-5AC2-9866-C10190BA7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de-DE" sz="2000" dirty="0">
                <a:solidFill>
                  <a:srgbClr val="FFFFFF"/>
                </a:solidFill>
              </a:rPr>
              <a:t>Total </a:t>
            </a:r>
            <a:r>
              <a:rPr lang="de-DE" sz="2000" dirty="0" err="1">
                <a:solidFill>
                  <a:srgbClr val="FFFFFF"/>
                </a:solidFill>
              </a:rPr>
              <a:t>Overview</a:t>
            </a:r>
            <a:endParaRPr lang="de-DE" sz="2000" dirty="0">
              <a:solidFill>
                <a:srgbClr val="FFFFFF"/>
              </a:solidFill>
            </a:endParaRP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0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83D6249-004F-29C8-2A4C-820DEA7C08FA}"/>
              </a:ext>
            </a:extLst>
          </p:cNvPr>
          <p:cNvSpPr/>
          <p:nvPr/>
        </p:nvSpPr>
        <p:spPr>
          <a:xfrm>
            <a:off x="2072866" y="1845889"/>
            <a:ext cx="2853775" cy="21818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1575C41-506B-84C1-83FE-583CA6D6F2DF}"/>
              </a:ext>
            </a:extLst>
          </p:cNvPr>
          <p:cNvSpPr/>
          <p:nvPr/>
        </p:nvSpPr>
        <p:spPr>
          <a:xfrm>
            <a:off x="2447234" y="327064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A4123E5-C523-C848-A7D7-EDB3C8E298D0}"/>
              </a:ext>
            </a:extLst>
          </p:cNvPr>
          <p:cNvSpPr/>
          <p:nvPr/>
        </p:nvSpPr>
        <p:spPr>
          <a:xfrm>
            <a:off x="7860651" y="3879781"/>
            <a:ext cx="2691267" cy="24667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C0108A-C49A-E734-44BC-C0D8312C2381}"/>
              </a:ext>
            </a:extLst>
          </p:cNvPr>
          <p:cNvSpPr/>
          <p:nvPr/>
        </p:nvSpPr>
        <p:spPr>
          <a:xfrm>
            <a:off x="8349656" y="2607406"/>
            <a:ext cx="2465406" cy="15301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1720E32-2778-FD76-0980-00056407BC3A}"/>
              </a:ext>
            </a:extLst>
          </p:cNvPr>
          <p:cNvSpPr/>
          <p:nvPr/>
        </p:nvSpPr>
        <p:spPr>
          <a:xfrm>
            <a:off x="5070217" y="2530708"/>
            <a:ext cx="2691267" cy="1772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A4ACFF4-1F1C-7CC6-7562-E54E1C800CB6}"/>
              </a:ext>
            </a:extLst>
          </p:cNvPr>
          <p:cNvSpPr/>
          <p:nvPr/>
        </p:nvSpPr>
        <p:spPr>
          <a:xfrm>
            <a:off x="1463407" y="480277"/>
            <a:ext cx="2426154" cy="2070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8D2A72E-2344-9F78-61BE-A7AEA7470995}"/>
              </a:ext>
            </a:extLst>
          </p:cNvPr>
          <p:cNvSpPr/>
          <p:nvPr/>
        </p:nvSpPr>
        <p:spPr>
          <a:xfrm>
            <a:off x="1852980" y="17852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FA9797EB-2EF5-F6B1-C231-83409E2BC33A}"/>
              </a:ext>
            </a:extLst>
          </p:cNvPr>
          <p:cNvSpPr/>
          <p:nvPr/>
        </p:nvSpPr>
        <p:spPr>
          <a:xfrm>
            <a:off x="3694241" y="1532710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CandidateDS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C8423EF7-D917-5A05-27C5-620DD8ECFD75}"/>
              </a:ext>
            </a:extLst>
          </p:cNvPr>
          <p:cNvSpPr/>
          <p:nvPr/>
        </p:nvSpPr>
        <p:spPr>
          <a:xfrm>
            <a:off x="7511409" y="3634341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>
                <a:solidFill>
                  <a:schemeClr val="tx1"/>
                </a:solidFill>
              </a:rPr>
              <a:t>OperationalDS</a:t>
            </a:r>
          </a:p>
        </p:txBody>
      </p:sp>
      <p:sp>
        <p:nvSpPr>
          <p:cNvPr id="14" name="Scrollen: vertikal 13">
            <a:extLst>
              <a:ext uri="{FF2B5EF4-FFF2-40B4-BE49-F238E27FC236}">
                <a16:creationId xmlns:a16="http://schemas.microsoft.com/office/drawing/2014/main" id="{BA8710C2-0A0E-D6F0-2889-9C9559293FE4}"/>
              </a:ext>
            </a:extLst>
          </p:cNvPr>
          <p:cNvSpPr/>
          <p:nvPr/>
        </p:nvSpPr>
        <p:spPr>
          <a:xfrm>
            <a:off x="5946140" y="4699774"/>
            <a:ext cx="1609724" cy="1303020"/>
          </a:xfrm>
          <a:prstGeom prst="verticalScroll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CurrentAlarms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(</a:t>
            </a:r>
            <a:r>
              <a:rPr lang="de-DE" sz="1200" dirty="0" err="1">
                <a:solidFill>
                  <a:schemeClr val="tx1"/>
                </a:solidFill>
              </a:rPr>
              <a:t>ToDo</a:t>
            </a:r>
            <a:r>
              <a:rPr lang="de-DE" sz="1200" dirty="0">
                <a:solidFill>
                  <a:schemeClr val="tx1"/>
                </a:solidFill>
              </a:rPr>
              <a:t>-List)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8FE6C00-FA6B-5E07-BD74-72AE6BFD4A13}"/>
              </a:ext>
            </a:extLst>
          </p:cNvPr>
          <p:cNvSpPr/>
          <p:nvPr/>
        </p:nvSpPr>
        <p:spPr>
          <a:xfrm>
            <a:off x="1695869" y="87842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2C707D-5B19-6648-B7DC-E3B373B13FCE}"/>
              </a:ext>
            </a:extLst>
          </p:cNvPr>
          <p:cNvSpPr/>
          <p:nvPr/>
        </p:nvSpPr>
        <p:spPr>
          <a:xfrm>
            <a:off x="1815148" y="114131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497E514-F054-1083-9F20-D648B9EF16E3}"/>
              </a:ext>
            </a:extLst>
          </p:cNvPr>
          <p:cNvSpPr/>
          <p:nvPr/>
        </p:nvSpPr>
        <p:spPr>
          <a:xfrm>
            <a:off x="2043737" y="2039085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42E8BE-35CC-A187-DD60-21BB499B6F93}"/>
              </a:ext>
            </a:extLst>
          </p:cNvPr>
          <p:cNvCxnSpPr/>
          <p:nvPr/>
        </p:nvCxnSpPr>
        <p:spPr>
          <a:xfrm>
            <a:off x="55776" y="108797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12A09CD-A2C3-38F6-7511-DDEC8660D0BA}"/>
              </a:ext>
            </a:extLst>
          </p:cNvPr>
          <p:cNvCxnSpPr>
            <a:cxnSpLocks/>
          </p:cNvCxnSpPr>
          <p:nvPr/>
        </p:nvCxnSpPr>
        <p:spPr>
          <a:xfrm flipH="1" flipV="1">
            <a:off x="55776" y="119729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5E74006-6173-E837-0931-0B0E817F6B72}"/>
              </a:ext>
            </a:extLst>
          </p:cNvPr>
          <p:cNvSpPr txBox="1"/>
          <p:nvPr/>
        </p:nvSpPr>
        <p:spPr>
          <a:xfrm>
            <a:off x="1590096" y="628736"/>
            <a:ext cx="217278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 dirty="0"/>
              <a:t>Interpretation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8D67303-DDAF-DECE-AA32-03B1F6D1F147}"/>
              </a:ext>
            </a:extLst>
          </p:cNvPr>
          <p:cNvSpPr/>
          <p:nvPr/>
        </p:nvSpPr>
        <p:spPr>
          <a:xfrm>
            <a:off x="9679768" y="3625897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4E93A30-0B5F-83DB-0280-53C868E7D9A4}"/>
              </a:ext>
            </a:extLst>
          </p:cNvPr>
          <p:cNvSpPr txBox="1"/>
          <p:nvPr/>
        </p:nvSpPr>
        <p:spPr>
          <a:xfrm>
            <a:off x="8518657" y="2785211"/>
            <a:ext cx="24221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Measurement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148AE7B-C0D5-239A-17E3-8E744A1CFFD4}"/>
              </a:ext>
            </a:extLst>
          </p:cNvPr>
          <p:cNvSpPr/>
          <p:nvPr/>
        </p:nvSpPr>
        <p:spPr>
          <a:xfrm>
            <a:off x="9722440" y="29972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7210C-B2C5-F7D9-CD9E-D196743240D4}"/>
              </a:ext>
            </a:extLst>
          </p:cNvPr>
          <p:cNvSpPr/>
          <p:nvPr/>
        </p:nvSpPr>
        <p:spPr>
          <a:xfrm>
            <a:off x="9913199" y="325112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C5FBE3B-28EE-C967-1B35-DFA5F66CE46C}"/>
              </a:ext>
            </a:extLst>
          </p:cNvPr>
          <p:cNvCxnSpPr/>
          <p:nvPr/>
        </p:nvCxnSpPr>
        <p:spPr>
          <a:xfrm>
            <a:off x="10361150" y="30753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49496393-59F4-A14D-29BC-DEC2A62FA319}"/>
              </a:ext>
            </a:extLst>
          </p:cNvPr>
          <p:cNvCxnSpPr>
            <a:cxnSpLocks/>
          </p:cNvCxnSpPr>
          <p:nvPr/>
        </p:nvCxnSpPr>
        <p:spPr>
          <a:xfrm flipH="1" flipV="1">
            <a:off x="10361150" y="3184639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EDB618E1-5CD5-3BFC-C80E-0CCD290421B2}"/>
              </a:ext>
            </a:extLst>
          </p:cNvPr>
          <p:cNvSpPr txBox="1"/>
          <p:nvPr/>
        </p:nvSpPr>
        <p:spPr>
          <a:xfrm>
            <a:off x="5240319" y="2785211"/>
            <a:ext cx="22374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Monitoring</a:t>
            </a:r>
          </a:p>
        </p:txBody>
      </p:sp>
      <p:sp>
        <p:nvSpPr>
          <p:cNvPr id="28" name="Pfeil: nach unten 27">
            <a:extLst>
              <a:ext uri="{FF2B5EF4-FFF2-40B4-BE49-F238E27FC236}">
                <a16:creationId xmlns:a16="http://schemas.microsoft.com/office/drawing/2014/main" id="{D558B3BB-43B5-E26A-7FF4-1FDF0D444505}"/>
              </a:ext>
            </a:extLst>
          </p:cNvPr>
          <p:cNvSpPr/>
          <p:nvPr/>
        </p:nvSpPr>
        <p:spPr>
          <a:xfrm>
            <a:off x="6398340" y="4229766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C8A1593-2BFD-0F6A-8A6C-5094E383A556}"/>
              </a:ext>
            </a:extLst>
          </p:cNvPr>
          <p:cNvSpPr/>
          <p:nvPr/>
        </p:nvSpPr>
        <p:spPr>
          <a:xfrm>
            <a:off x="9245928" y="53890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6C7B6E6-12B3-A16E-10DB-42DABA151F4B}"/>
              </a:ext>
            </a:extLst>
          </p:cNvPr>
          <p:cNvSpPr/>
          <p:nvPr/>
        </p:nvSpPr>
        <p:spPr>
          <a:xfrm>
            <a:off x="9436687" y="564294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42056AAA-4DC3-3B38-8BC3-0F71A3800B0C}"/>
              </a:ext>
            </a:extLst>
          </p:cNvPr>
          <p:cNvSpPr/>
          <p:nvPr/>
        </p:nvSpPr>
        <p:spPr>
          <a:xfrm>
            <a:off x="9288600" y="476041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B858B72-19F5-815B-BCED-31A19234EFBF}"/>
              </a:ext>
            </a:extLst>
          </p:cNvPr>
          <p:cNvSpPr/>
          <p:nvPr/>
        </p:nvSpPr>
        <p:spPr>
          <a:xfrm>
            <a:off x="9479358" y="501429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FF34E9A-EB98-F55B-0FB1-CD1A6A0B3936}"/>
              </a:ext>
            </a:extLst>
          </p:cNvPr>
          <p:cNvSpPr txBox="1"/>
          <p:nvPr/>
        </p:nvSpPr>
        <p:spPr>
          <a:xfrm>
            <a:off x="7926223" y="4423216"/>
            <a:ext cx="24654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200"/>
              <a:t>Implementation  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AAE8A837-CA59-F81D-CAD8-F5DF1A22B3CC}"/>
              </a:ext>
            </a:extLst>
          </p:cNvPr>
          <p:cNvCxnSpPr>
            <a:cxnSpLocks/>
          </p:cNvCxnSpPr>
          <p:nvPr/>
        </p:nvCxnSpPr>
        <p:spPr>
          <a:xfrm>
            <a:off x="10149358" y="5115458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97BE0DF-B352-A85C-980E-DFBDA068755B}"/>
              </a:ext>
            </a:extLst>
          </p:cNvPr>
          <p:cNvCxnSpPr>
            <a:cxnSpLocks/>
          </p:cNvCxnSpPr>
          <p:nvPr/>
        </p:nvCxnSpPr>
        <p:spPr>
          <a:xfrm flipH="1" flipV="1">
            <a:off x="10149358" y="5224785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65D062B-6837-EC42-7CAB-2BCDB3F9AD86}"/>
              </a:ext>
            </a:extLst>
          </p:cNvPr>
          <p:cNvCxnSpPr/>
          <p:nvPr/>
        </p:nvCxnSpPr>
        <p:spPr>
          <a:xfrm>
            <a:off x="175056" y="139461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328FB65-005D-2E63-EFAF-F5049760B6F6}"/>
              </a:ext>
            </a:extLst>
          </p:cNvPr>
          <p:cNvCxnSpPr>
            <a:cxnSpLocks/>
          </p:cNvCxnSpPr>
          <p:nvPr/>
        </p:nvCxnSpPr>
        <p:spPr>
          <a:xfrm flipH="1" flipV="1">
            <a:off x="175056" y="1503938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D49FBD31-CBC2-5906-EE11-19D988530817}"/>
              </a:ext>
            </a:extLst>
          </p:cNvPr>
          <p:cNvCxnSpPr/>
          <p:nvPr/>
        </p:nvCxnSpPr>
        <p:spPr>
          <a:xfrm>
            <a:off x="10551908" y="3429743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462CA5B-818B-6F73-C3DA-197B09D90262}"/>
              </a:ext>
            </a:extLst>
          </p:cNvPr>
          <p:cNvCxnSpPr>
            <a:cxnSpLocks/>
          </p:cNvCxnSpPr>
          <p:nvPr/>
        </p:nvCxnSpPr>
        <p:spPr>
          <a:xfrm flipH="1" flipV="1">
            <a:off x="10551908" y="3539070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0C6D671-3B00-EF31-2763-6F3B6F4160F4}"/>
              </a:ext>
            </a:extLst>
          </p:cNvPr>
          <p:cNvCxnSpPr/>
          <p:nvPr/>
        </p:nvCxnSpPr>
        <p:spPr>
          <a:xfrm>
            <a:off x="10309917" y="3770462"/>
            <a:ext cx="16400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C60F8D1-682A-62BD-CB12-C12F677B50A9}"/>
              </a:ext>
            </a:extLst>
          </p:cNvPr>
          <p:cNvCxnSpPr>
            <a:cxnSpLocks/>
          </p:cNvCxnSpPr>
          <p:nvPr/>
        </p:nvCxnSpPr>
        <p:spPr>
          <a:xfrm flipH="1" flipV="1">
            <a:off x="10309917" y="3879788"/>
            <a:ext cx="1640092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A0D2CB19-55B0-4F8C-DF98-3EB39F22DBFB}"/>
              </a:ext>
            </a:extLst>
          </p:cNvPr>
          <p:cNvSpPr/>
          <p:nvPr/>
        </p:nvSpPr>
        <p:spPr>
          <a:xfrm>
            <a:off x="5820534" y="344913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2C802D-440E-E5C6-047D-8E3C7EECB795}"/>
              </a:ext>
            </a:extLst>
          </p:cNvPr>
          <p:cNvSpPr/>
          <p:nvPr/>
        </p:nvSpPr>
        <p:spPr>
          <a:xfrm>
            <a:off x="6011292" y="370301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8549BA0-4360-9122-59D1-03206E9A579F}"/>
              </a:ext>
            </a:extLst>
          </p:cNvPr>
          <p:cNvSpPr/>
          <p:nvPr/>
        </p:nvSpPr>
        <p:spPr>
          <a:xfrm>
            <a:off x="6425854" y="353451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FEE0BD48-47A5-CACC-EE11-FFD424709B6A}"/>
              </a:ext>
            </a:extLst>
          </p:cNvPr>
          <p:cNvSpPr/>
          <p:nvPr/>
        </p:nvSpPr>
        <p:spPr>
          <a:xfrm>
            <a:off x="6616611" y="3788402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31807AEC-1500-9FF4-76AE-404DBDFAC7AF}"/>
              </a:ext>
            </a:extLst>
          </p:cNvPr>
          <p:cNvCxnSpPr>
            <a:cxnSpLocks/>
          </p:cNvCxnSpPr>
          <p:nvPr/>
        </p:nvCxnSpPr>
        <p:spPr>
          <a:xfrm>
            <a:off x="9925328" y="4863192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D7D74FE-2DFF-5FC4-2523-00082B73BB97}"/>
              </a:ext>
            </a:extLst>
          </p:cNvPr>
          <p:cNvCxnSpPr>
            <a:cxnSpLocks/>
          </p:cNvCxnSpPr>
          <p:nvPr/>
        </p:nvCxnSpPr>
        <p:spPr>
          <a:xfrm flipH="1" flipV="1">
            <a:off x="9925328" y="4972519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730BCE8D-41FE-2AB2-3C57-147FE500F378}"/>
              </a:ext>
            </a:extLst>
          </p:cNvPr>
          <p:cNvCxnSpPr>
            <a:cxnSpLocks/>
          </p:cNvCxnSpPr>
          <p:nvPr/>
        </p:nvCxnSpPr>
        <p:spPr>
          <a:xfrm>
            <a:off x="9884638" y="5509843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44D6406A-7055-2DBA-6FA6-5092307F82E8}"/>
              </a:ext>
            </a:extLst>
          </p:cNvPr>
          <p:cNvCxnSpPr>
            <a:cxnSpLocks/>
          </p:cNvCxnSpPr>
          <p:nvPr/>
        </p:nvCxnSpPr>
        <p:spPr>
          <a:xfrm flipH="1" flipV="1">
            <a:off x="9884638" y="5619170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C126C495-E69F-AFA6-E982-3D0F88BACC52}"/>
              </a:ext>
            </a:extLst>
          </p:cNvPr>
          <p:cNvCxnSpPr>
            <a:cxnSpLocks/>
          </p:cNvCxnSpPr>
          <p:nvPr/>
        </p:nvCxnSpPr>
        <p:spPr>
          <a:xfrm>
            <a:off x="10075396" y="5796667"/>
            <a:ext cx="2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E6539D3-94BC-C834-057C-8A8931387BE3}"/>
              </a:ext>
            </a:extLst>
          </p:cNvPr>
          <p:cNvCxnSpPr>
            <a:cxnSpLocks/>
          </p:cNvCxnSpPr>
          <p:nvPr/>
        </p:nvCxnSpPr>
        <p:spPr>
          <a:xfrm flipH="1" flipV="1">
            <a:off x="10075396" y="5905993"/>
            <a:ext cx="2016000" cy="88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Pfeil: nach unten 51">
            <a:extLst>
              <a:ext uri="{FF2B5EF4-FFF2-40B4-BE49-F238E27FC236}">
                <a16:creationId xmlns:a16="http://schemas.microsoft.com/office/drawing/2014/main" id="{4A7A3F08-DE33-732B-0A58-D75F32E02926}"/>
              </a:ext>
            </a:extLst>
          </p:cNvPr>
          <p:cNvSpPr/>
          <p:nvPr/>
        </p:nvSpPr>
        <p:spPr>
          <a:xfrm rot="16200000">
            <a:off x="7657604" y="4889610"/>
            <a:ext cx="220975" cy="417022"/>
          </a:xfrm>
          <a:prstGeom prst="downArrow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800">
              <a:solidFill>
                <a:schemeClr val="tx1"/>
              </a:solidFill>
            </a:endParaRPr>
          </a:p>
        </p:txBody>
      </p:sp>
      <p:sp>
        <p:nvSpPr>
          <p:cNvPr id="53" name="Zylinder 52">
            <a:extLst>
              <a:ext uri="{FF2B5EF4-FFF2-40B4-BE49-F238E27FC236}">
                <a16:creationId xmlns:a16="http://schemas.microsoft.com/office/drawing/2014/main" id="{C6F32473-70BC-F2E9-9019-5981DAD6DD7F}"/>
              </a:ext>
            </a:extLst>
          </p:cNvPr>
          <p:cNvSpPr/>
          <p:nvPr/>
        </p:nvSpPr>
        <p:spPr>
          <a:xfrm>
            <a:off x="3694008" y="3669315"/>
            <a:ext cx="1534230" cy="570807"/>
          </a:xfrm>
          <a:prstGeom prst="can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/>
              <a:t>RunningDS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2EDBE470-AFE3-DF8D-D3A2-37B772BC4FE7}"/>
              </a:ext>
            </a:extLst>
          </p:cNvPr>
          <p:cNvSpPr txBox="1"/>
          <p:nvPr/>
        </p:nvSpPr>
        <p:spPr>
          <a:xfrm>
            <a:off x="2314962" y="2861284"/>
            <a:ext cx="22569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/>
              <a:t>Validation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EB44F087-34F0-7A74-EB5F-18454596840E}"/>
              </a:ext>
            </a:extLst>
          </p:cNvPr>
          <p:cNvSpPr/>
          <p:nvPr/>
        </p:nvSpPr>
        <p:spPr>
          <a:xfrm>
            <a:off x="4042709" y="2439359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6DE09BB-48CB-4CCF-5830-749B4393C50C}"/>
              </a:ext>
            </a:extLst>
          </p:cNvPr>
          <p:cNvSpPr/>
          <p:nvPr/>
        </p:nvSpPr>
        <p:spPr>
          <a:xfrm>
            <a:off x="2639461" y="336533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657916EA-4CC0-7509-05E1-B712B30F9E24}"/>
              </a:ext>
            </a:extLst>
          </p:cNvPr>
          <p:cNvSpPr/>
          <p:nvPr/>
        </p:nvSpPr>
        <p:spPr>
          <a:xfrm>
            <a:off x="2962463" y="3303370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5BFC1EB-6098-7829-D122-089F4E7C15A0}"/>
              </a:ext>
            </a:extLst>
          </p:cNvPr>
          <p:cNvSpPr/>
          <p:nvPr/>
        </p:nvSpPr>
        <p:spPr>
          <a:xfrm>
            <a:off x="3194937" y="3228166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1C0F196E-806C-FEC0-0A25-86776F9FF3C3}"/>
              </a:ext>
            </a:extLst>
          </p:cNvPr>
          <p:cNvSpPr/>
          <p:nvPr/>
        </p:nvSpPr>
        <p:spPr>
          <a:xfrm>
            <a:off x="3615658" y="31812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FACBBF8A-1FCC-438A-0A3F-D7C6504F983E}"/>
              </a:ext>
            </a:extLst>
          </p:cNvPr>
          <p:cNvSpPr/>
          <p:nvPr/>
        </p:nvSpPr>
        <p:spPr>
          <a:xfrm>
            <a:off x="3834605" y="308577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AAB3608-0965-5745-BD6E-5203AA47C2A3}"/>
              </a:ext>
            </a:extLst>
          </p:cNvPr>
          <p:cNvSpPr/>
          <p:nvPr/>
        </p:nvSpPr>
        <p:spPr>
          <a:xfrm>
            <a:off x="8107628" y="4905494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316CEF7-13FB-37DA-BA4A-3A6BFBD4F55B}"/>
              </a:ext>
            </a:extLst>
          </p:cNvPr>
          <p:cNvSpPr/>
          <p:nvPr/>
        </p:nvSpPr>
        <p:spPr>
          <a:xfrm>
            <a:off x="6167024" y="1619737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tabLst>
                <a:tab pos="36000" algn="l"/>
              </a:tabLst>
            </a:pPr>
            <a:r>
              <a:rPr lang="de-DE" sz="800" dirty="0" err="1"/>
              <a:t>Pulser</a:t>
            </a:r>
            <a:endParaRPr lang="de-DE" sz="800" dirty="0"/>
          </a:p>
        </p:txBody>
      </p:sp>
      <p:pic>
        <p:nvPicPr>
          <p:cNvPr id="63" name="Grafik 62">
            <a:extLst>
              <a:ext uri="{FF2B5EF4-FFF2-40B4-BE49-F238E27FC236}">
                <a16:creationId xmlns:a16="http://schemas.microsoft.com/office/drawing/2014/main" id="{38AEF6B4-5A68-8124-1468-05B796E2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58" y="1684159"/>
            <a:ext cx="166165" cy="174914"/>
          </a:xfrm>
          <a:prstGeom prst="rect">
            <a:avLst/>
          </a:prstGeom>
        </p:spPr>
      </p:pic>
      <p:sp>
        <p:nvSpPr>
          <p:cNvPr id="64" name="Rechteck 63">
            <a:extLst>
              <a:ext uri="{FF2B5EF4-FFF2-40B4-BE49-F238E27FC236}">
                <a16:creationId xmlns:a16="http://schemas.microsoft.com/office/drawing/2014/main" id="{48CA799C-FCB5-9E59-844D-19904DF5CDBF}"/>
              </a:ext>
            </a:extLst>
          </p:cNvPr>
          <p:cNvSpPr/>
          <p:nvPr/>
        </p:nvSpPr>
        <p:spPr>
          <a:xfrm>
            <a:off x="8648829" y="3068763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A7E4105C-F19B-62F0-0515-938A3EBC60B9}"/>
              </a:ext>
            </a:extLst>
          </p:cNvPr>
          <p:cNvSpPr/>
          <p:nvPr/>
        </p:nvSpPr>
        <p:spPr>
          <a:xfrm>
            <a:off x="6354143" y="2821621"/>
            <a:ext cx="638710" cy="41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tabLst>
                <a:tab pos="36000" algn="l"/>
              </a:tabLst>
            </a:pP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84084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42C5D-ABB2-C257-9250-833E28F7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E293C3-5FCA-FD32-64F3-6A1E647D3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604F400-0C80-74F1-D6FE-CCA17C22CCAE}"/>
              </a:ext>
            </a:extLst>
          </p:cNvPr>
          <p:cNvSpPr/>
          <p:nvPr/>
        </p:nvSpPr>
        <p:spPr>
          <a:xfrm>
            <a:off x="805542" y="562575"/>
            <a:ext cx="10779150" cy="58848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8BBA6DD-F3DC-7921-E860-7DCB8DA4605A}"/>
              </a:ext>
            </a:extLst>
          </p:cNvPr>
          <p:cNvCxnSpPr/>
          <p:nvPr/>
        </p:nvCxnSpPr>
        <p:spPr>
          <a:xfrm flipH="1">
            <a:off x="7519649" y="2758231"/>
            <a:ext cx="48127" cy="882579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97C794AF-333E-4B67-F0C5-E210CC193FDD}"/>
              </a:ext>
            </a:extLst>
          </p:cNvPr>
          <p:cNvSpPr txBox="1"/>
          <p:nvPr/>
        </p:nvSpPr>
        <p:spPr>
          <a:xfrm>
            <a:off x="4719755" y="1756152"/>
            <a:ext cx="98282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1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Equipment: Actual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1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FW: Target (desired)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9E98993C-EB10-AD5E-5F0B-9B9EB28E06C2}"/>
              </a:ext>
            </a:extLst>
          </p:cNvPr>
          <p:cNvGrpSpPr/>
          <p:nvPr/>
        </p:nvGrpSpPr>
        <p:grpSpPr>
          <a:xfrm>
            <a:off x="137739" y="676798"/>
            <a:ext cx="11174925" cy="5688580"/>
            <a:chOff x="137739" y="676798"/>
            <a:chExt cx="11174925" cy="5688580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694F6EA-2A5B-52FE-12FE-6EAF7CAD78B4}"/>
                </a:ext>
              </a:extLst>
            </p:cNvPr>
            <p:cNvGrpSpPr/>
            <p:nvPr/>
          </p:nvGrpSpPr>
          <p:grpSpPr>
            <a:xfrm>
              <a:off x="137739" y="676798"/>
              <a:ext cx="11174925" cy="5688580"/>
              <a:chOff x="24431" y="716821"/>
              <a:chExt cx="11174925" cy="5688580"/>
            </a:xfrm>
          </p:grpSpPr>
          <p:grpSp>
            <p:nvGrpSpPr>
              <p:cNvPr id="4" name="Gruppieren 3">
                <a:extLst>
                  <a:ext uri="{FF2B5EF4-FFF2-40B4-BE49-F238E27FC236}">
                    <a16:creationId xmlns:a16="http://schemas.microsoft.com/office/drawing/2014/main" id="{603C7A46-581C-1FF9-745B-53D0005345CF}"/>
                  </a:ext>
                </a:extLst>
              </p:cNvPr>
              <p:cNvGrpSpPr/>
              <p:nvPr/>
            </p:nvGrpSpPr>
            <p:grpSpPr>
              <a:xfrm>
                <a:off x="857880" y="716821"/>
                <a:ext cx="10341476" cy="5688580"/>
                <a:chOff x="857880" y="716821"/>
                <a:chExt cx="10341476" cy="5688580"/>
              </a:xfrm>
            </p:grpSpPr>
            <p:pic>
              <p:nvPicPr>
                <p:cNvPr id="3" name="Grafik 2">
                  <a:extLst>
                    <a:ext uri="{FF2B5EF4-FFF2-40B4-BE49-F238E27FC236}">
                      <a16:creationId xmlns:a16="http://schemas.microsoft.com/office/drawing/2014/main" id="{FDD897E9-0EF3-B589-C5E2-C398A97D17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51890" y="1241448"/>
                  <a:ext cx="9247024" cy="4579177"/>
                </a:xfrm>
                <a:prstGeom prst="rect">
                  <a:avLst/>
                </a:prstGeom>
              </p:spPr>
            </p:pic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0B5EA730-4D2D-9497-613B-704C82512945}"/>
                    </a:ext>
                  </a:extLst>
                </p:cNvPr>
                <p:cNvSpPr txBox="1"/>
                <p:nvPr/>
              </p:nvSpPr>
              <p:spPr>
                <a:xfrm>
                  <a:off x="857880" y="2203154"/>
                  <a:ext cx="1424012" cy="70788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Generic interface to outside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as few info to ouside as possible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Info readable by other domains</a:t>
                  </a:r>
                </a:p>
              </p:txBody>
            </p:sp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203B6016-F752-7A46-CDB0-01BA0EE44134}"/>
                    </a:ext>
                  </a:extLst>
                </p:cNvPr>
                <p:cNvSpPr txBox="1"/>
                <p:nvPr/>
              </p:nvSpPr>
              <p:spPr>
                <a:xfrm>
                  <a:off x="1411916" y="3452553"/>
                  <a:ext cx="1330660" cy="58477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Approval: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All domain rules met?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Only then candidate can transition to target state</a:t>
                  </a:r>
                </a:p>
              </p:txBody>
            </p:sp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BA3F1538-D656-41EF-279B-1DF69A3B0EC8}"/>
                    </a:ext>
                  </a:extLst>
                </p:cNvPr>
                <p:cNvSpPr txBox="1"/>
                <p:nvPr/>
              </p:nvSpPr>
              <p:spPr>
                <a:xfrm>
                  <a:off x="1014223" y="960555"/>
                  <a:ext cx="1267669" cy="50783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Request from outside (</a:t>
                  </a:r>
                  <a:r>
                    <a:rPr kumimoji="0" lang="de-DE" sz="9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connect device x to deviceGroup y</a:t>
                  </a: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)</a:t>
                  </a:r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DCB8913B-A10E-8AA8-1DB4-4C71F72E6F51}"/>
                    </a:ext>
                  </a:extLst>
                </p:cNvPr>
                <p:cNvSpPr txBox="1"/>
                <p:nvPr/>
              </p:nvSpPr>
              <p:spPr>
                <a:xfrm>
                  <a:off x="3251956" y="716821"/>
                  <a:ext cx="2148637" cy="50783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Request gets interpreted: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(deviceGroup y needs firmware z) </a:t>
                  </a: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  <a:sym typeface="Symbol" panose="05050102010706020507" pitchFamily="18" charset="2"/>
                    </a:rPr>
                    <a:t></a:t>
                  </a: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association = </a:t>
                  </a:r>
                  <a:r>
                    <a:rPr kumimoji="0" lang="de-DE" sz="9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device x needs firmware z</a:t>
                  </a:r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89B0EDCC-6F86-DF1F-AE3F-997E6F8FAEB8}"/>
                    </a:ext>
                  </a:extLst>
                </p:cNvPr>
                <p:cNvSpPr txBox="1"/>
                <p:nvPr/>
              </p:nvSpPr>
              <p:spPr>
                <a:xfrm>
                  <a:off x="4322448" y="1260972"/>
                  <a:ext cx="2348081" cy="50783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Upon request from outside: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Load CandidateDS into CandidateDS,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Apply desired changes to CandidateDS</a:t>
                  </a:r>
                </a:p>
              </p:txBody>
            </p:sp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900CBB4-20A2-78E1-7717-10D9E64A34A8}"/>
                    </a:ext>
                  </a:extLst>
                </p:cNvPr>
                <p:cNvSpPr txBox="1"/>
                <p:nvPr/>
              </p:nvSpPr>
              <p:spPr>
                <a:xfrm>
                  <a:off x="1833645" y="4086383"/>
                  <a:ext cx="1764997" cy="646331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de-DE"/>
                  </a:defPPr>
                  <a:lvl1pPr>
                    <a:defRPr sz="9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Validation checks if changes to CandidateDS are valid, if yes RunningDS is overwritten by CandidateDS content</a:t>
                  </a:r>
                </a:p>
              </p:txBody>
            </p:sp>
            <p:sp>
              <p:nvSpPr>
                <p:cNvPr id="20" name="Bogen 19">
                  <a:extLst>
                    <a:ext uri="{FF2B5EF4-FFF2-40B4-BE49-F238E27FC236}">
                      <a16:creationId xmlns:a16="http://schemas.microsoft.com/office/drawing/2014/main" id="{E2A5C948-67A6-9856-2FA7-81445E9CC456}"/>
                    </a:ext>
                  </a:extLst>
                </p:cNvPr>
                <p:cNvSpPr/>
                <p:nvPr/>
              </p:nvSpPr>
              <p:spPr>
                <a:xfrm flipH="1">
                  <a:off x="2939581" y="2363473"/>
                  <a:ext cx="2119738" cy="1752143"/>
                </a:xfrm>
                <a:prstGeom prst="arc">
                  <a:avLst>
                    <a:gd name="adj1" fmla="val 16200000"/>
                    <a:gd name="adj2" fmla="val 5384468"/>
                  </a:avLst>
                </a:prstGeom>
                <a:ln w="19050">
                  <a:solidFill>
                    <a:schemeClr val="accent1">
                      <a:lumMod val="40000"/>
                      <a:lumOff val="6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DC9742B5-61E2-1E62-096F-2C5BCE9A30F8}"/>
                    </a:ext>
                  </a:extLst>
                </p:cNvPr>
                <p:cNvSpPr txBox="1"/>
                <p:nvPr/>
              </p:nvSpPr>
              <p:spPr>
                <a:xfrm>
                  <a:off x="3992652" y="4219914"/>
                  <a:ext cx="1061945" cy="30777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7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Equipment: Actual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7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FW: Target (validated)</a:t>
                  </a:r>
                </a:p>
              </p:txBody>
            </p:sp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F992976B-AE57-7C3F-9B78-B1E92CF2F754}"/>
                    </a:ext>
                  </a:extLst>
                </p:cNvPr>
                <p:cNvSpPr txBox="1"/>
                <p:nvPr/>
              </p:nvSpPr>
              <p:spPr>
                <a:xfrm>
                  <a:off x="4268689" y="4001651"/>
                  <a:ext cx="872434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Target state</a:t>
                  </a:r>
                </a:p>
              </p:txBody>
            </p:sp>
            <p:sp>
              <p:nvSpPr>
                <p:cNvPr id="26" name="Textfeld 25">
                  <a:extLst>
                    <a:ext uri="{FF2B5EF4-FFF2-40B4-BE49-F238E27FC236}">
                      <a16:creationId xmlns:a16="http://schemas.microsoft.com/office/drawing/2014/main" id="{59F5D333-A885-977A-949E-D90C7737D0ED}"/>
                    </a:ext>
                  </a:extLst>
                </p:cNvPr>
                <p:cNvSpPr txBox="1"/>
                <p:nvPr/>
              </p:nvSpPr>
              <p:spPr>
                <a:xfrm>
                  <a:off x="7159465" y="3992163"/>
                  <a:ext cx="872434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Actual state</a:t>
                  </a:r>
                </a:p>
              </p:txBody>
            </p:sp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EFFE51A6-6847-A544-5F65-DB57A4DA7B98}"/>
                    </a:ext>
                  </a:extLst>
                </p:cNvPr>
                <p:cNvSpPr txBox="1"/>
                <p:nvPr/>
              </p:nvSpPr>
              <p:spPr>
                <a:xfrm>
                  <a:off x="5622454" y="5618481"/>
                  <a:ext cx="1537012" cy="461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ToDos = deviation between target and actual state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(RunningDS – OperationalDS)</a:t>
                  </a:r>
                </a:p>
              </p:txBody>
            </p:sp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EA99CE17-2A08-24FA-59F4-0E966F44F29F}"/>
                    </a:ext>
                  </a:extLst>
                </p:cNvPr>
                <p:cNvSpPr txBox="1"/>
                <p:nvPr/>
              </p:nvSpPr>
              <p:spPr>
                <a:xfrm>
                  <a:off x="1237259" y="5358960"/>
                  <a:ext cx="1537012" cy="70788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All datastores have same data model, but with different meanings: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Char char="-"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Equipment</a:t>
                  </a:r>
                </a:p>
                <a:p>
                  <a:pPr marL="171450" marR="0" lvl="0" indent="-17145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Char char="-"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Firmware</a:t>
                  </a:r>
                </a:p>
              </p:txBody>
            </p:sp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7A0BFA75-46D0-C999-92CC-EAC78156021C}"/>
                    </a:ext>
                  </a:extLst>
                </p:cNvPr>
                <p:cNvSpPr txBox="1"/>
                <p:nvPr/>
              </p:nvSpPr>
              <p:spPr>
                <a:xfrm>
                  <a:off x="7218276" y="2363473"/>
                  <a:ext cx="1605887" cy="46166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OperationalDS only contains data required for managing the domain (state on devices)</a:t>
                  </a:r>
                </a:p>
              </p:txBody>
            </p:sp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422B8B3E-B215-E77B-C872-39FAFA17819F}"/>
                    </a:ext>
                  </a:extLst>
                </p:cNvPr>
                <p:cNvSpPr txBox="1"/>
                <p:nvPr/>
              </p:nvSpPr>
              <p:spPr>
                <a:xfrm>
                  <a:off x="7241269" y="4183479"/>
                  <a:ext cx="896299" cy="30777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7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Equipment: Actual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7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E97132">
                          <a:lumMod val="75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FW: Actual</a:t>
                  </a:r>
                </a:p>
              </p:txBody>
            </p:sp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5F306B7F-03FE-BFD9-7652-A4588DCBF8E8}"/>
                    </a:ext>
                  </a:extLst>
                </p:cNvPr>
                <p:cNvSpPr txBox="1"/>
                <p:nvPr/>
              </p:nvSpPr>
              <p:spPr>
                <a:xfrm>
                  <a:off x="9491966" y="2363473"/>
                  <a:ext cx="1707390" cy="78483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Load current equipment + firmware state from devices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(Difficulty: interface is generic, but data is not homogenous </a:t>
                  </a: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  <a:sym typeface="Symbol" panose="05050102010706020507" pitchFamily="18" charset="2"/>
                    </a:rPr>
                    <a:t></a:t>
                  </a: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interpretation of data required)</a:t>
                  </a:r>
                </a:p>
              </p:txBody>
            </p:sp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14283448-EA28-DABA-0675-02BE241E9FE3}"/>
                    </a:ext>
                  </a:extLst>
                </p:cNvPr>
                <p:cNvSpPr txBox="1"/>
                <p:nvPr/>
              </p:nvSpPr>
              <p:spPr>
                <a:xfrm>
                  <a:off x="9287037" y="5482071"/>
                  <a:ext cx="1605887" cy="923330"/>
                </a:xfrm>
                <a:prstGeom prst="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de-DE"/>
                  </a:defPPr>
                  <a:lvl1pPr>
                    <a:defRPr sz="9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Implementation functions write changes into the network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9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156082">
                          <a:lumMod val="60000"/>
                          <a:lumOff val="4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(RPC1: download of FW to device, RPC2: device unpacks FW) </a:t>
                  </a:r>
                </a:p>
              </p:txBody>
            </p:sp>
          </p:grpSp>
          <p:sp>
            <p:nvSpPr>
              <p:cNvPr id="18" name="Bogen 17">
                <a:extLst>
                  <a:ext uri="{FF2B5EF4-FFF2-40B4-BE49-F238E27FC236}">
                    <a16:creationId xmlns:a16="http://schemas.microsoft.com/office/drawing/2014/main" id="{AD31250E-8E6A-2970-B0DC-802571E12286}"/>
                  </a:ext>
                </a:extLst>
              </p:cNvPr>
              <p:cNvSpPr/>
              <p:nvPr/>
            </p:nvSpPr>
            <p:spPr>
              <a:xfrm>
                <a:off x="24431" y="1076866"/>
                <a:ext cx="4433719" cy="1752143"/>
              </a:xfrm>
              <a:prstGeom prst="arc">
                <a:avLst>
                  <a:gd name="adj1" fmla="val 16200000"/>
                  <a:gd name="adj2" fmla="val 205146"/>
                </a:avLst>
              </a:prstGeom>
              <a:ln w="19050">
                <a:solidFill>
                  <a:schemeClr val="accent1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3F6746CA-3B27-7C69-A6CF-744785BBB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9642" y="2130588"/>
              <a:ext cx="537841" cy="385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130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226</Words>
  <Application>Microsoft Office PowerPoint</Application>
  <PresentationFormat>Breitbild</PresentationFormat>
  <Paragraphs>44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1_Office</vt:lpstr>
      <vt:lpstr>AutomationArchitecture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Katharina Mohr (External)</cp:lastModifiedBy>
  <cp:revision>3</cp:revision>
  <dcterms:created xsi:type="dcterms:W3CDTF">2026-06-23T15:25:35Z</dcterms:created>
  <dcterms:modified xsi:type="dcterms:W3CDTF">2026-07-23T09:20:54Z</dcterms:modified>
</cp:coreProperties>
</file>